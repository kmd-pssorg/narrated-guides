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7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921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[calm, dry] Welcome. This is the requisition process in ProcureFlow three sixty-five. [pauses] It takes about thirty seconds to explain, and somewhat longer to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requisition goes through three phases. {vis: Phase 1} First, you find the item in the catalogue. [pauses] {vis: Phase 2} Then you fill in the details: the cost centre, the budget, and a justification of at least two hundred characters. [pauses] {vis: Phase 3} And finally, you get it approved. [pauses] {vis: Bent} By Bent. [deadpan] Obviously.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was the process. {vis: Punchline} If you have any questions, please submit them as a requisition. {voice: bent} [flat, unhurried] Bent will get back to you. [long pause] Eventually.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FB02E"/>
                </a:solidFill>
              </a:rPr>
              <a:t>ProcureFlow 365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The requisition process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57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ADCFC"/>
                </a:solidFill>
              </a:rPr>
              <a:t>In three phases, and one Bent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4213D"/>
                </a:solidFill>
              </a:rPr>
              <a:t>The process</a:t>
            </a:r>
            <a:endParaRPr lang="en-US" sz="4000" dirty="0"/>
          </a:p>
        </p:txBody>
      </p:sp>
      <p:sp>
        <p:nvSpPr>
          <p:cNvPr id="3" name="Timeline"/>
          <p:cNvSpPr/>
          <p:nvPr/>
        </p:nvSpPr>
        <p:spPr>
          <a:xfrm>
            <a:off x="1097280" y="3246120"/>
            <a:ext cx="9966960" cy="0"/>
          </a:xfrm>
          <a:prstGeom prst="line">
            <a:avLst/>
          </a:prstGeom>
          <a:noFill/>
          <a:ln w="38100">
            <a:solidFill>
              <a:srgbClr val="D6DBEA"/>
            </a:solidFill>
            <a:prstDash val="solid"/>
          </a:ln>
        </p:spPr>
      </p:sp>
      <p:sp>
        <p:nvSpPr>
          <p:cNvPr id="4" name="Phase 1 dot"/>
          <p:cNvSpPr/>
          <p:nvPr/>
        </p:nvSpPr>
        <p:spPr>
          <a:xfrm>
            <a:off x="868680" y="3017520"/>
            <a:ext cx="457200" cy="457200"/>
          </a:xfrm>
          <a:prstGeom prst="ellipse">
            <a:avLst/>
          </a:prstGeom>
          <a:solidFill>
            <a:srgbClr val="2F4FD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Phase 1"/>
          <p:cNvSpPr/>
          <p:nvPr/>
        </p:nvSpPr>
        <p:spPr>
          <a:xfrm>
            <a:off x="731520" y="3749040"/>
            <a:ext cx="3291840" cy="1737360"/>
          </a:xfrm>
          <a:prstGeom prst="roundRect">
            <a:avLst>
              <a:gd name="adj" fmla="val 6316"/>
            </a:avLst>
          </a:prstGeom>
          <a:solidFill>
            <a:srgbClr val="EEF1FD"/>
          </a:solidFill>
          <a:ln w="12700">
            <a:solidFill>
              <a:srgbClr val="D4DBFB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F4FD8"/>
                </a:solidFill>
              </a:rPr>
              <a:t>PHASE 1</a:t>
            </a:r>
            <a:endParaRPr lang="en-US" sz="13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</a:rPr>
              <a:t>Find the item</a:t>
            </a:r>
            <a:endParaRPr lang="en-US" sz="1300" dirty="0"/>
          </a:p>
          <a:p>
            <a:pPr marL="0" indent="0">
              <a:buNone/>
            </a:pPr>
            <a:r>
              <a:rPr lang="en-US" sz="1500" dirty="0">
                <a:solidFill>
                  <a:srgbClr val="687089"/>
                </a:solidFill>
              </a:rPr>
              <a:t>Search the catalogue. Ignore the red stapler.</a:t>
            </a:r>
            <a:endParaRPr lang="en-US" sz="1300" dirty="0"/>
          </a:p>
        </p:txBody>
      </p:sp>
      <p:sp>
        <p:nvSpPr>
          <p:cNvPr id="6" name="Phase 2 dot"/>
          <p:cNvSpPr/>
          <p:nvPr/>
        </p:nvSpPr>
        <p:spPr>
          <a:xfrm>
            <a:off x="4526280" y="3017520"/>
            <a:ext cx="457200" cy="457200"/>
          </a:xfrm>
          <a:prstGeom prst="ellipse">
            <a:avLst/>
          </a:prstGeom>
          <a:solidFill>
            <a:srgbClr val="2F4FD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Phase 2"/>
          <p:cNvSpPr/>
          <p:nvPr/>
        </p:nvSpPr>
        <p:spPr>
          <a:xfrm>
            <a:off x="4389120" y="3749040"/>
            <a:ext cx="3291840" cy="1737360"/>
          </a:xfrm>
          <a:prstGeom prst="roundRect">
            <a:avLst>
              <a:gd name="adj" fmla="val 6316"/>
            </a:avLst>
          </a:prstGeom>
          <a:solidFill>
            <a:srgbClr val="EEF1FD"/>
          </a:solidFill>
          <a:ln w="12700">
            <a:solidFill>
              <a:srgbClr val="D4DBFB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F4FD8"/>
                </a:solidFill>
              </a:rPr>
              <a:t>PHASE 2</a:t>
            </a:r>
            <a:endParaRPr lang="en-US" sz="13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</a:rPr>
              <a:t>Fill in the details</a:t>
            </a:r>
            <a:endParaRPr lang="en-US" sz="1300" dirty="0"/>
          </a:p>
          <a:p>
            <a:pPr marL="0" indent="0">
              <a:buNone/>
            </a:pPr>
            <a:r>
              <a:rPr lang="en-US" sz="1500" dirty="0">
                <a:solidFill>
                  <a:srgbClr val="687089"/>
                </a:solidFill>
              </a:rPr>
              <a:t>Cost centre, budget exception, 200 characters of justification.</a:t>
            </a:r>
            <a:endParaRPr lang="en-US" sz="1300" dirty="0"/>
          </a:p>
        </p:txBody>
      </p:sp>
      <p:sp>
        <p:nvSpPr>
          <p:cNvPr id="8" name="Phase 3 dot"/>
          <p:cNvSpPr/>
          <p:nvPr/>
        </p:nvSpPr>
        <p:spPr>
          <a:xfrm>
            <a:off x="8183880" y="3017520"/>
            <a:ext cx="457200" cy="457200"/>
          </a:xfrm>
          <a:prstGeom prst="ellipse">
            <a:avLst/>
          </a:prstGeom>
          <a:solidFill>
            <a:srgbClr val="2F4FD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Phase 3"/>
          <p:cNvSpPr/>
          <p:nvPr/>
        </p:nvSpPr>
        <p:spPr>
          <a:xfrm>
            <a:off x="8046720" y="3749040"/>
            <a:ext cx="3291840" cy="1737360"/>
          </a:xfrm>
          <a:prstGeom prst="roundRect">
            <a:avLst>
              <a:gd name="adj" fmla="val 6316"/>
            </a:avLst>
          </a:prstGeom>
          <a:solidFill>
            <a:srgbClr val="EEF1FD"/>
          </a:solidFill>
          <a:ln w="12700">
            <a:solidFill>
              <a:srgbClr val="D4DBFB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F4FD8"/>
                </a:solidFill>
              </a:rPr>
              <a:t>PHASE 3</a:t>
            </a:r>
            <a:endParaRPr lang="en-US" sz="13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</a:rPr>
              <a:t>Get it approved</a:t>
            </a:r>
            <a:endParaRPr lang="en-US" sz="1300" dirty="0"/>
          </a:p>
          <a:p>
            <a:pPr marL="0" indent="0">
              <a:buNone/>
            </a:pPr>
            <a:r>
              <a:rPr lang="en-US" sz="1500" dirty="0">
                <a:solidFill>
                  <a:srgbClr val="687089"/>
                </a:solidFill>
              </a:rPr>
              <a:t>Line manager, budget owner, Procurement.</a:t>
            </a:r>
            <a:endParaRPr lang="en-US" sz="1300" dirty="0"/>
          </a:p>
        </p:txBody>
      </p:sp>
      <p:sp>
        <p:nvSpPr>
          <p:cNvPr id="10" name="Bent"/>
          <p:cNvSpPr/>
          <p:nvPr/>
        </p:nvSpPr>
        <p:spPr>
          <a:xfrm>
            <a:off x="6766560" y="1554480"/>
            <a:ext cx="4572000" cy="640080"/>
          </a:xfrm>
          <a:prstGeom prst="roundRect">
            <a:avLst>
              <a:gd name="adj" fmla="val 14286"/>
            </a:avLst>
          </a:prstGeom>
          <a:solidFill>
            <a:srgbClr val="14213D"/>
          </a:solidFill>
          <a:ln/>
        </p:spPr>
        <p:txBody>
          <a:bodyPr wrap="square" lIns="152400" tIns="152400" rIns="152400" bIns="1524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Final approval: </a:t>
            </a:r>
            <a:r>
              <a:rPr lang="en-US" sz="1600" dirty="0">
                <a:solidFill>
                  <a:srgbClr val="FFFFFF"/>
                </a:solidFill>
              </a:rPr>
              <a:t>Bent. Since 2004. Nobody asks.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</a:rPr>
              <a:t>Questions?</a:t>
            </a:r>
            <a:endParaRPr lang="en-US" sz="5400" dirty="0"/>
          </a:p>
        </p:txBody>
      </p:sp>
      <p:sp>
        <p:nvSpPr>
          <p:cNvPr id="3" name="Punchline"/>
          <p:cNvSpPr txBox="1"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ADCFC"/>
                </a:solidFill>
              </a:rPr>
              <a:t>Please submit them as a requisition.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</Words>
  <Application>Microsoft Macintosh PowerPoint</Application>
  <PresentationFormat>Widescreen</PresentationFormat>
  <Paragraphs>22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requisition process</dc:title>
  <dc:subject>PptxGenJS Presentation</dc:subject>
  <dc:creator>PptxGenJS</dc:creator>
  <cp:lastModifiedBy>narrated-guides</cp:lastModifiedBy>
  <cp:revision>1</cp:revision>
  <dcterms:created xsi:type="dcterms:W3CDTF">2026-10-13T18:07:15Z</dcterms:created>
  <dcterms:modified xsi:type="dcterms:W3CDTF">2026-10-13T18:08:38Z</dcterms:modified>
</cp:coreProperties>
</file>